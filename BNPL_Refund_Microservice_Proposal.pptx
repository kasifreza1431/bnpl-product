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86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9414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BNPL Refund &amp; Return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5B9BD5"/>
                </a:solidFill>
              </a:rPr>
              <a:t>Microservice Proposal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0" y="3017520"/>
            <a:ext cx="3657600" cy="45720"/>
          </a:xfrm>
          <a:prstGeom prst="rect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7F1F8"/>
                </a:solidFill>
              </a:rPr>
              <a:t>Unified Solution for All Refund Scenarios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F1F8"/>
                </a:solidFill>
              </a:rPr>
              <a:t>Presented by: </a:t>
            </a:r>
            <a:r>
              <a:rPr lang="en-US" sz="1400" b="1" dirty="0">
                <a:solidFill>
                  <a:srgbClr val="FFFFFF"/>
                </a:solidFill>
              </a:rPr>
              <a:t>Kasif Reza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9BD5"/>
                </a:solidFill>
              </a:rPr>
              <a:t>Product Owner -BNPL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8"/>
                </a:solidFill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65760" cy="36576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280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941"/>
                </a:solidFill>
              </a:rPr>
              <a:t>Problem Statement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Current challenges with refund processing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365760" cy="36576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8745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941"/>
                </a:solidFill>
              </a:rPr>
              <a:t>Proposed Solution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Unified microservice architecture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365760" cy="36576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468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941"/>
                </a:solidFill>
              </a:rPr>
              <a:t>Use Cases Covered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6 comprehensive refund scenarios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3063240"/>
            <a:ext cx="365760" cy="36576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0632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941"/>
                </a:solidFill>
              </a:rPr>
              <a:t>Technical Architecture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System design and integration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365760" cy="36576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657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941"/>
                </a:solidFill>
              </a:rPr>
              <a:t>Benefits &amp; ROI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Business value and cost savings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4251960"/>
            <a:ext cx="365760" cy="36576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42519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941"/>
                </a:solidFill>
              </a:rPr>
              <a:t>Implementation Plan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Timeline and resource requirements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8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3941"/>
                </a:solidFill>
              </a:rPr>
              <a:t>Current Challenges: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" cy="73152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941"/>
                </a:solidFill>
              </a:rPr>
              <a:t>No unified system to handle diverse refund scenarios (full vs partial, before vs after payment)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73152" cy="73152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941"/>
                </a:solidFill>
              </a:rPr>
              <a:t>Manual intervention required for complex cases leading to operational inefficiencies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73152" cy="73152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941"/>
                </a:solidFill>
              </a:rPr>
              <a:t>Risk of calculation errors in partial refunds and installment recalculation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73152" cy="73152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154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941"/>
                </a:solidFill>
              </a:rPr>
              <a:t>Delayed settlement reversals with partner (Partner) causing reconciliation issues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73152" cy="73152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657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941"/>
                </a:solidFill>
              </a:rPr>
              <a:t>Inconsistent customer experience across different refund scenarios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73152" cy="73152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160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941"/>
                </a:solidFill>
              </a:rPr>
              <a:t>No centralized audit trail for refund transactions causing compliance risks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E7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480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Business Impact: </a:t>
            </a:r>
            <a:r>
              <a:rPr lang="en-US" sz="1300" dirty="0">
                <a:solidFill>
                  <a:srgbClr val="2F3941"/>
                </a:solidFill>
              </a:rPr>
              <a:t>Delayed refunds, customer dissatisfaction, operational overhead, compliance risk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8"/>
                </a:solidFill>
              </a:rPr>
              <a:t>Proposed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BNPL Refund &amp; Return Microservice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A dedicated, scalable microservice to handle all refund and return scenarios with automated calculations, settlement reversals, and real-time processing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4360" y="2788920"/>
            <a:ext cx="365760" cy="36576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788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Unified Processing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F3941"/>
                </a:solidFill>
              </a:rPr>
              <a:t>Single service for all 6 refund scenarios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265176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83480" y="2788920"/>
            <a:ext cx="365760" cy="36576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0" y="2788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Automated Calculations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F3941"/>
                </a:solidFill>
              </a:rPr>
              <a:t>Credit limit, installment, profit margin adjustments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4360" y="3794760"/>
            <a:ext cx="365760" cy="36576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37947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Real-time Settlement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F3941"/>
                </a:solidFill>
              </a:rPr>
              <a:t>Instant partner integration and reversal processing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365760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83480" y="3794760"/>
            <a:ext cx="365760" cy="36576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0" y="37947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Audit Trail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F3941"/>
                </a:solidFill>
              </a:rPr>
              <a:t>Complete transaction logging and compliance reporting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8"/>
                </a:solidFill>
              </a:rPr>
              <a:t>Use Cases Covered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3941"/>
                </a:solidFill>
              </a:rPr>
              <a:t>6 Comprehensive Refund Scenarios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743200" cy="1280160"/>
          </a:xfrm>
          <a:prstGeom prst="rect">
            <a:avLst/>
          </a:prstGeom>
          <a:solidFill>
            <a:srgbClr val="E7F1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Full Return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E75B6"/>
                </a:solidFill>
              </a:rPr>
              <a:t>Before First Installment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2F3941"/>
                </a:solidFill>
              </a:rPr>
              <a:t>Credit restore, settlement reversal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1645920"/>
            <a:ext cx="2743200" cy="1280160"/>
          </a:xfrm>
          <a:prstGeom prst="rect">
            <a:avLst/>
          </a:prstGeom>
          <a:solidFill>
            <a:srgbClr val="E7F1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37560" y="1645920"/>
            <a:ext cx="457200" cy="4572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20440" y="21945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Full Return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E75B6"/>
                </a:solidFill>
              </a:rPr>
              <a:t>After Partial Payment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2F3941"/>
                </a:solidFill>
              </a:rPr>
              <a:t>Customer refund + credit restore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2743200" cy="1280160"/>
          </a:xfrm>
          <a:prstGeom prst="rect">
            <a:avLst/>
          </a:prstGeom>
          <a:solidFill>
            <a:srgbClr val="E7F1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457200" cy="4572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0" y="21945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Full Return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E75B6"/>
                </a:solidFill>
              </a:rPr>
              <a:t>All Installments Paid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2F3941"/>
                </a:solidFill>
              </a:rPr>
              <a:t>Full refund + limit adjustment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2743200" cy="1280160"/>
          </a:xfrm>
          <a:prstGeom prst="rect">
            <a:avLst/>
          </a:prstGeom>
          <a:solidFill>
            <a:srgbClr val="E7F1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" y="3657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Partial Return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E75B6"/>
                </a:solidFill>
              </a:rPr>
              <a:t>Before First Installment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2F3941"/>
                </a:solidFill>
              </a:rPr>
              <a:t>Installment recalculation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37560" y="3108960"/>
            <a:ext cx="2743200" cy="1280160"/>
          </a:xfrm>
          <a:prstGeom prst="rect">
            <a:avLst/>
          </a:prstGeom>
          <a:solidFill>
            <a:srgbClr val="E7F1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37560" y="3108960"/>
            <a:ext cx="457200" cy="4572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3756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520440" y="3657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Partial Return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E75B6"/>
                </a:solidFill>
              </a:rPr>
              <a:t>After Partial Payment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2F3941"/>
                </a:solidFill>
              </a:rPr>
              <a:t>Balance adjustment + refund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0" y="3108960"/>
            <a:ext cx="2743200" cy="1280160"/>
          </a:xfrm>
          <a:prstGeom prst="rect">
            <a:avLst/>
          </a:prstGeom>
          <a:solidFill>
            <a:srgbClr val="E7F1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17920" y="3108960"/>
            <a:ext cx="457200" cy="4572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1792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00800" y="3657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Partial Return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E75B6"/>
                </a:solidFill>
              </a:rPr>
              <a:t>All Installments Paid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2F3941"/>
                </a:solidFill>
              </a:rPr>
              <a:t>Proportional refund processing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8"/>
                </a:solidFill>
              </a:rPr>
              <a:t>Refund Processing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941832"/>
            <a:ext cx="2286000" cy="64008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94183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Partner Initiates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Return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49830" y="1581912"/>
            <a:ext cx="0" cy="252944"/>
          </a:xfrm>
          <a:prstGeom prst="line">
            <a:avLst/>
          </a:prstGeom>
          <a:noFill/>
          <a:ln w="25400">
            <a:solidFill>
              <a:srgbClr val="2F394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22860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764792"/>
            <a:ext cx="2286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Microservice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Receives Request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57400" y="2496312"/>
            <a:ext cx="0" cy="178309"/>
          </a:xfrm>
          <a:prstGeom prst="line">
            <a:avLst/>
          </a:prstGeom>
          <a:noFill/>
          <a:ln w="25400">
            <a:solidFill>
              <a:srgbClr val="2F394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23483" y="2679192"/>
            <a:ext cx="2286000" cy="640080"/>
          </a:xfrm>
          <a:prstGeom prst="rect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587752"/>
            <a:ext cx="2286000" cy="7791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Identification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43775" y="3319273"/>
            <a:ext cx="0" cy="182880"/>
          </a:xfrm>
          <a:prstGeom prst="line">
            <a:avLst/>
          </a:prstGeom>
          <a:noFill/>
          <a:ln w="25400">
            <a:solidFill>
              <a:srgbClr val="2F394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14400" y="3505180"/>
            <a:ext cx="2286000" cy="640080"/>
          </a:xfrm>
          <a:prstGeom prst="rect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410712"/>
            <a:ext cx="2286000" cy="734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Calculations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Engine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57400" y="4145260"/>
            <a:ext cx="0" cy="208737"/>
          </a:xfrm>
          <a:prstGeom prst="line">
            <a:avLst/>
          </a:prstGeom>
          <a:noFill/>
          <a:ln w="25400">
            <a:solidFill>
              <a:srgbClr val="2F394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23483" y="4356480"/>
            <a:ext cx="2286000" cy="64008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233672"/>
            <a:ext cx="2286000" cy="734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Execute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Transactions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98090" y="89611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8"/>
                </a:solidFill>
              </a:rPr>
              <a:t>Partner API Integration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F3941"/>
                </a:solidFill>
              </a:rPr>
              <a:t>Receives return notification with order details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98090" y="171907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8"/>
                </a:solidFill>
              </a:rPr>
              <a:t>API Gateway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F3941"/>
                </a:solidFill>
              </a:rPr>
              <a:t>Authentication, validation, routing to service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98090" y="254203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8"/>
                </a:solidFill>
              </a:rPr>
              <a:t>Business Rules Engine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F3941"/>
                </a:solidFill>
              </a:rPr>
              <a:t>Determines scenario type (full/partial, payment status)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98090" y="331927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8"/>
                </a:solidFill>
              </a:rPr>
              <a:t>Automated Processing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F3941"/>
                </a:solidFill>
              </a:rPr>
              <a:t>• Credit limit adjustment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F3941"/>
                </a:solidFill>
              </a:rPr>
              <a:t>• Installment recalculation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F3941"/>
                </a:solidFill>
              </a:rPr>
              <a:t>• Profit margin adjustment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F3941"/>
                </a:solidFill>
              </a:rPr>
              <a:t>• Customer refund calculation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98090" y="4187952"/>
            <a:ext cx="4572000" cy="80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8"/>
                </a:solidFill>
              </a:rPr>
              <a:t>Multi-System Update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F3941"/>
                </a:solidFill>
              </a:rPr>
              <a:t>• Core banking system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F3941"/>
                </a:solidFill>
              </a:rPr>
              <a:t>• Settlement ledger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F3941"/>
                </a:solidFill>
              </a:rPr>
              <a:t>• Customer notification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F3941"/>
                </a:solidFill>
              </a:rPr>
              <a:t>• Audit logging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8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E7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8"/>
                </a:solidFill>
              </a:rPr>
              <a:t>External Systems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1371600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F3941"/>
                </a:solidFill>
              </a:rPr>
              <a:t>Partner API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0" y="1371600"/>
            <a:ext cx="18288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F3941"/>
                </a:solidFill>
              </a:rPr>
              <a:t>Customer Systems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1645920"/>
            <a:ext cx="0" cy="274320"/>
          </a:xfrm>
          <a:prstGeom prst="line">
            <a:avLst/>
          </a:prstGeom>
          <a:noFill/>
          <a:ln w="25400">
            <a:solidFill>
              <a:srgbClr val="2F394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0" y="1920240"/>
            <a:ext cx="3657600" cy="3657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Gateway / Load Balancer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286000"/>
            <a:ext cx="0" cy="274320"/>
          </a:xfrm>
          <a:prstGeom prst="line">
            <a:avLst/>
          </a:prstGeom>
          <a:noFill/>
          <a:ln w="25400">
            <a:solidFill>
              <a:srgbClr val="2F394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828800" y="2560320"/>
            <a:ext cx="5486400" cy="1371600"/>
          </a:xfrm>
          <a:prstGeom prst="rect">
            <a:avLst/>
          </a:prstGeom>
          <a:solidFill>
            <a:srgbClr val="E7F1F8"/>
          </a:solidFill>
          <a:ln w="254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2880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8"/>
                </a:solidFill>
              </a:rPr>
              <a:t>BNPL Refund &amp; Return Microservice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03120" y="3017520"/>
            <a:ext cx="1005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03120" y="30175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3941"/>
                </a:solidFill>
              </a:rPr>
              <a:t>Request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F3941"/>
                </a:solidFill>
              </a:rPr>
              <a:t>Validator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383280" y="3017520"/>
            <a:ext cx="1005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83280" y="30175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3941"/>
                </a:solidFill>
              </a:rPr>
              <a:t>Scenario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F3941"/>
                </a:solidFill>
              </a:rPr>
              <a:t>Engine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1005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0" y="30175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3941"/>
                </a:solidFill>
              </a:rPr>
              <a:t>Calculation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F3941"/>
                </a:solidFill>
              </a:rPr>
              <a:t>Engine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943600" y="3017520"/>
            <a:ext cx="1005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0" y="30175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3941"/>
                </a:solidFill>
              </a:rPr>
              <a:t>Transaction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F3941"/>
                </a:solidFill>
              </a:rPr>
              <a:t>Orchestrator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0" y="3566160"/>
            <a:ext cx="2743200" cy="274320"/>
          </a:xfrm>
          <a:prstGeom prst="rect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Audit &amp; Transaction Database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3931920"/>
            <a:ext cx="0" cy="274320"/>
          </a:xfrm>
          <a:prstGeom prst="line">
            <a:avLst/>
          </a:prstGeom>
          <a:noFill/>
          <a:ln w="25400">
            <a:solidFill>
              <a:srgbClr val="2F394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E7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42519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8"/>
                </a:solidFill>
              </a:rPr>
              <a:t>Downstream Systems Integration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452628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4526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3941"/>
                </a:solidFill>
              </a:rPr>
              <a:t>Core Banking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F3941"/>
                </a:solidFill>
              </a:rPr>
              <a:t>System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103120" y="452628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103120" y="4526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3941"/>
                </a:solidFill>
              </a:rPr>
              <a:t>Settlement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F3941"/>
                </a:solidFill>
              </a:rPr>
              <a:t>Ledger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74720" y="452628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74720" y="4526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3941"/>
                </a:solidFill>
              </a:rPr>
              <a:t>Credit Limit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F3941"/>
                </a:solidFill>
              </a:rPr>
              <a:t>Management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46320" y="452628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46320" y="4526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3941"/>
                </a:solidFill>
              </a:rPr>
              <a:t>Customer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F3941"/>
                </a:solidFill>
              </a:rPr>
              <a:t>Notification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217920" y="452628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17920" y="4526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3941"/>
                </a:solidFill>
              </a:rPr>
              <a:t>Reporting &amp;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F3941"/>
                </a:solidFill>
              </a:rPr>
              <a:t>Analytics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589520" y="452628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589520" y="4526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3941"/>
                </a:solidFill>
              </a:rPr>
              <a:t>Compliance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F3941"/>
                </a:solidFill>
              </a:rPr>
              <a:t>Audit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8"/>
                </a:solidFill>
              </a:rPr>
              <a:t>Key Microservice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blurRad="635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43000" y="1325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Intelligent Scenario Detection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941"/>
                </a:solidFill>
              </a:rPr>
              <a:t>Automatically identifies refund type based on payment status, return scope, and timing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• Zero manual classification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• Instant processing decision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• Reduced error rate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41148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blurRad="635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834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532120" y="1325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Real-time Calculation Engine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941"/>
                </a:solidFill>
              </a:rPr>
              <a:t>Handles complex calculations for credit limits, installments, and profit margins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103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• Millisecond response time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• 100% accuracy guarantee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• Handles edge cases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41148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blurRad="635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14300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Automated Settlement Reversal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337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941"/>
                </a:solidFill>
              </a:rPr>
              <a:t>Orchestrates multi-step settlement process with Partner including reconciliation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749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• Same-day processing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• Automatic retry logic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• Complete audit trail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2834640"/>
            <a:ext cx="41148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blurRad="635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834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53212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8"/>
                </a:solidFill>
              </a:rPr>
              <a:t>Comprehensive Audit Trail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3337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941"/>
                </a:solidFill>
              </a:rPr>
              <a:t>Captures every calculation, decision, and transaction for compliance and reporting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749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• Full traceability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• Regulatory compliance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• Real-time dashboards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8"/>
                </a:solidFill>
              </a:rPr>
              <a:t>Benefits &amp; ROI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8"/>
                </a:solidFill>
              </a:rPr>
              <a:t>Business Benefits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37160" cy="13716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941"/>
                </a:solidFill>
              </a:rPr>
              <a:t>Improved customer satisfaction with faster refund processing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37160" cy="13716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941"/>
                </a:solidFill>
              </a:rPr>
              <a:t>Reduced operational costs through automation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137160" cy="13716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377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941"/>
                </a:solidFill>
              </a:rPr>
              <a:t>Enhanced accuracy in financial calculations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37160" cy="13716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2788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941"/>
                </a:solidFill>
              </a:rPr>
              <a:t>Better compliance with audit trails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137160" cy="13716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200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941"/>
                </a:solidFill>
              </a:rPr>
              <a:t>Scalable solution for future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8"/>
                </a:solidFill>
              </a:rPr>
              <a:t>Expected ROI (Year 1)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1645920"/>
            <a:ext cx="1828800" cy="8229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70%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75488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Reduction 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Processing Time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1645920"/>
            <a:ext cx="1828800" cy="8229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66560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85%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76656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Reduction 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Manual Errors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651760"/>
            <a:ext cx="1828800" cy="8229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60%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475488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Reduction 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Operational Cost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2651760"/>
            <a:ext cx="1828800" cy="8229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6656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90%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76656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Faster Customer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Refunds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E7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8"/>
                </a:solidFill>
              </a:rPr>
              <a:t>Estimated Investment vs Savings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3941"/>
                </a:solidFill>
              </a:rPr>
              <a:t>Development Cost: </a:t>
            </a:r>
            <a:r>
              <a:rPr lang="en-US" sz="1200" dirty="0">
                <a:solidFill>
                  <a:srgbClr val="2F3941"/>
                </a:solidFill>
              </a:rPr>
              <a:t>AED 250K | </a:t>
            </a:r>
            <a:r>
              <a:rPr lang="en-US" sz="1200" b="1" dirty="0">
                <a:solidFill>
                  <a:srgbClr val="28A745"/>
                </a:solidFill>
              </a:rPr>
              <a:t>Annual Savings: </a:t>
            </a:r>
            <a:r>
              <a:rPr lang="en-US" sz="1200" dirty="0">
                <a:solidFill>
                  <a:srgbClr val="28A745"/>
                </a:solidFill>
              </a:rPr>
              <a:t>AED 450K | </a:t>
            </a:r>
            <a:r>
              <a:rPr lang="en-US" sz="1200" b="1" dirty="0">
                <a:solidFill>
                  <a:srgbClr val="1F4E78"/>
                </a:solidFill>
              </a:rPr>
              <a:t>Payback Period: 6-7 months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8A745"/>
                </a:solidFill>
              </a:rPr>
              <a:t>ROI: 180% in Year 1  |  250% by Year 3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8"/>
                </a:solidFill>
              </a:rPr>
              <a:t>Implementation Plan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88720" cy="5486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2 weeks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0" y="11887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8"/>
                </a:solidFill>
              </a:rPr>
              <a:t>Design &amp; Architecture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2F3941"/>
                </a:solidFill>
              </a:rPr>
              <a:t>• API design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2F3941"/>
                </a:solidFill>
              </a:rPr>
              <a:t>• Database schema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2F3941"/>
                </a:solidFill>
              </a:rPr>
              <a:t>• Integration planning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1810512"/>
            <a:ext cx="6858000" cy="73152"/>
          </a:xfrm>
          <a:prstGeom prst="rect">
            <a:avLst/>
          </a:prstGeom>
          <a:solidFill>
            <a:srgbClr val="E7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28800" y="1810512"/>
            <a:ext cx="0" cy="73152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188720" cy="5486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6 weeks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19202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8"/>
                </a:solidFill>
              </a:rPr>
              <a:t>Core Development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2F3941"/>
                </a:solidFill>
              </a:rPr>
              <a:t>• Microservice development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2F3941"/>
                </a:solidFill>
              </a:rPr>
              <a:t>• Calculation engine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2F3941"/>
                </a:solidFill>
              </a:rPr>
              <a:t>• Testing framework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828800" y="2542032"/>
            <a:ext cx="6858000" cy="73152"/>
          </a:xfrm>
          <a:prstGeom prst="rect">
            <a:avLst/>
          </a:prstGeom>
          <a:solidFill>
            <a:srgbClr val="E7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828800" y="2542032"/>
            <a:ext cx="0" cy="73152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1188720" cy="5486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6517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3 weeks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26517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8"/>
                </a:solidFill>
              </a:rPr>
              <a:t>Integration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2F3941"/>
                </a:solidFill>
              </a:rPr>
              <a:t>• Partner API integration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2F3941"/>
                </a:solidFill>
              </a:rPr>
              <a:t>• Core banking connection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2F3941"/>
                </a:solidFill>
              </a:rPr>
              <a:t>• Settlement system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828800" y="3273552"/>
            <a:ext cx="6858000" cy="73152"/>
          </a:xfrm>
          <a:prstGeom prst="rect">
            <a:avLst/>
          </a:prstGeom>
          <a:solidFill>
            <a:srgbClr val="E7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828800" y="3273552"/>
            <a:ext cx="0" cy="73152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1188720" cy="5486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383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4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3 weeks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33832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8"/>
                </a:solidFill>
              </a:rPr>
              <a:t>Testing &amp; UAT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2F3941"/>
                </a:solidFill>
              </a:rPr>
              <a:t>• Unit &amp; integration tests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2F3941"/>
                </a:solidFill>
              </a:rPr>
              <a:t>• UAT with stakeholders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2F3941"/>
                </a:solidFill>
              </a:rPr>
              <a:t>• Security audit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828800" y="4005072"/>
            <a:ext cx="6858000" cy="73152"/>
          </a:xfrm>
          <a:prstGeom prst="rect">
            <a:avLst/>
          </a:prstGeom>
          <a:solidFill>
            <a:srgbClr val="E7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828800" y="4005072"/>
            <a:ext cx="0" cy="73152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1188720" cy="5486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1148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5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 week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28800" y="41148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8"/>
                </a:solidFill>
              </a:rPr>
              <a:t>Deployment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2F3941"/>
                </a:solidFill>
              </a:rPr>
              <a:t>• Production deployment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2F3941"/>
                </a:solidFill>
              </a:rPr>
              <a:t>• Monitoring setup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2F3941"/>
                </a:solidFill>
              </a:rPr>
              <a:t>• Team training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828800" y="4736592"/>
            <a:ext cx="6858000" cy="73152"/>
          </a:xfrm>
          <a:prstGeom prst="rect">
            <a:avLst/>
          </a:prstGeom>
          <a:solidFill>
            <a:srgbClr val="E7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828800" y="4736592"/>
            <a:ext cx="0" cy="73152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4754880"/>
            <a:ext cx="8229600" cy="182880"/>
          </a:xfrm>
          <a:prstGeom prst="rect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Total Implementation Timeline: 15 weeks (approx. 4 months)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8"/>
                </a:solidFill>
              </a:rPr>
              <a:t>Resource Requirements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8"/>
                </a:solidFill>
              </a:rPr>
              <a:t>Development Team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20040" cy="320040"/>
          </a:xfrm>
          <a:prstGeom prst="ellipse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3941"/>
                </a:solidFill>
              </a:rPr>
              <a:t>Product Owner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Backlog, stakeholder mgmt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320040" cy="320040"/>
          </a:xfrm>
          <a:prstGeom prst="ellipse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3941"/>
                </a:solidFill>
              </a:rPr>
              <a:t>Backend Engineers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Core service development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320040" cy="320040"/>
          </a:xfrm>
          <a:prstGeom prst="ellipse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3941"/>
                </a:solidFill>
              </a:rPr>
              <a:t>DevOps Engineer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Infrastructure, deployment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320040" cy="320040"/>
          </a:xfrm>
          <a:prstGeom prst="ellipse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3941"/>
                </a:solidFill>
              </a:rPr>
              <a:t>QA Engineer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Testing, quality assurance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320040" cy="320040"/>
          </a:xfrm>
          <a:prstGeom prst="ellipse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611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3941"/>
                </a:solidFill>
              </a:rPr>
              <a:t>Business Analyst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Requirements, documentation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8"/>
                </a:solidFill>
              </a:rPr>
              <a:t>Technology Stack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5488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8"/>
                </a:solidFill>
              </a:rPr>
              <a:t>Backend: </a:t>
            </a:r>
            <a:r>
              <a:rPr lang="en-US" sz="1000" dirty="0">
                <a:solidFill>
                  <a:srgbClr val="2F3941"/>
                </a:solidFill>
              </a:rPr>
              <a:t>Node.js / Java Spring Boot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0391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8"/>
                </a:solidFill>
              </a:rPr>
              <a:t>Database: </a:t>
            </a:r>
            <a:r>
              <a:rPr lang="en-US" sz="1000" dirty="0">
                <a:solidFill>
                  <a:srgbClr val="2F3941"/>
                </a:solidFill>
              </a:rPr>
              <a:t>PostgreSQL (transactional)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941"/>
                </a:solidFill>
              </a:rPr>
              <a:t>MongoDB (audit logs)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247802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8"/>
                </a:solidFill>
              </a:rPr>
              <a:t>Messaging: </a:t>
            </a:r>
            <a:r>
              <a:rPr lang="en-US" sz="1000" dirty="0">
                <a:solidFill>
                  <a:srgbClr val="2F3941"/>
                </a:solidFill>
              </a:rPr>
              <a:t>Kafka / RabbitMQ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29169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8"/>
                </a:solidFill>
              </a:rPr>
              <a:t>API: </a:t>
            </a:r>
            <a:r>
              <a:rPr lang="en-US" sz="1000" dirty="0">
                <a:solidFill>
                  <a:srgbClr val="2F3941"/>
                </a:solidFill>
              </a:rPr>
              <a:t>REST / GraphQL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33558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8"/>
                </a:solidFill>
              </a:rPr>
              <a:t>Cloud: </a:t>
            </a:r>
            <a:r>
              <a:rPr lang="en-US" sz="1000" dirty="0">
                <a:solidFill>
                  <a:srgbClr val="2F3941"/>
                </a:solidFill>
              </a:rPr>
              <a:t>AWS / Azure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3794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8"/>
                </a:solidFill>
              </a:rPr>
              <a:t>Monitoring: </a:t>
            </a:r>
            <a:r>
              <a:rPr lang="en-US" sz="1000" dirty="0">
                <a:solidFill>
                  <a:srgbClr val="2F3941"/>
                </a:solidFill>
              </a:rPr>
              <a:t>Prometheus, Grafana, ELK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E7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4206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8"/>
                </a:solidFill>
              </a:rPr>
              <a:t>Budget Breakdown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5262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3941"/>
                </a:solidFill>
              </a:rPr>
              <a:t>Development: AED 150K  |  Infrastructure: AED 50K  |  Testing &amp; QA: AED 30K  |  Contingency: AED 20K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8A745"/>
                </a:solidFill>
              </a:rPr>
              <a:t>Total Budget: AED 250,000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8"/>
                </a:solidFill>
              </a:rPr>
              <a:t>Risk Mitigation Strategy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0" y="1280160"/>
            <a:ext cx="731520" cy="27432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0" y="1280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60120"/>
            <a:ext cx="6949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8"/>
                </a:solidFill>
              </a:rPr>
              <a:t>Risk: </a:t>
            </a:r>
            <a:r>
              <a:rPr lang="en-US" sz="1100" dirty="0">
                <a:solidFill>
                  <a:srgbClr val="2F3941"/>
                </a:solidFill>
              </a:rPr>
              <a:t>Integration Complexity with Partner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</a:rPr>
              <a:t>Mitigation: </a:t>
            </a:r>
            <a:endParaRPr lang="en-US" sz="1000" dirty="0"/>
          </a:p>
          <a:p>
            <a:r>
              <a:rPr lang="en-US" sz="900" dirty="0">
                <a:solidFill>
                  <a:srgbClr val="2F3941"/>
                </a:solidFill>
              </a:rPr>
              <a:t>• Early engagement with Partner API team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2F3941"/>
                </a:solidFill>
              </a:rPr>
              <a:t>• Phased integration approach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2F3941"/>
                </a:solidFill>
              </a:rPr>
              <a:t>• Comprehensive API documentation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2F3941"/>
                </a:solidFill>
              </a:rPr>
              <a:t>• Fallback to manual processing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0" y="2560320"/>
            <a:ext cx="731520" cy="27432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0" y="2560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8"/>
                </a:solidFill>
              </a:rPr>
              <a:t>Risk: </a:t>
            </a:r>
            <a:r>
              <a:rPr lang="en-US" sz="1100" dirty="0">
                <a:solidFill>
                  <a:srgbClr val="2F3941"/>
                </a:solidFill>
              </a:rPr>
              <a:t>Data Migration from Legacy Systems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</a:rPr>
              <a:t>Mitigation: 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2F3941"/>
                </a:solidFill>
              </a:rPr>
              <a:t>• Detailed data mapping exercise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2F3941"/>
                </a:solidFill>
              </a:rPr>
              <a:t>• Parallel run period (2 weeks)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2F3941"/>
                </a:solidFill>
              </a:rPr>
              <a:t>• Robust rollback mechanism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2F3941"/>
                </a:solidFill>
              </a:rPr>
              <a:t>• Data validation checkpoints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0" y="3840480"/>
            <a:ext cx="731520" cy="27432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0" y="3840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7033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8"/>
                </a:solidFill>
              </a:rPr>
              <a:t>Risk: </a:t>
            </a:r>
            <a:r>
              <a:rPr lang="en-US" sz="1100" dirty="0">
                <a:solidFill>
                  <a:srgbClr val="2F3941"/>
                </a:solidFill>
              </a:rPr>
              <a:t>Calculation Accuracy in Complex Scenarios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97764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</a:rPr>
              <a:t>Mitigation: 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2F3941"/>
                </a:solidFill>
              </a:rPr>
              <a:t>• Extensive unit test coverage (&gt;90%)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2F3941"/>
                </a:solidFill>
              </a:rPr>
              <a:t>• Edge case testing with real data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2F3941"/>
                </a:solidFill>
              </a:rPr>
              <a:t>• Independent audit of calculations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2F3941"/>
                </a:solidFill>
              </a:rPr>
              <a:t>• Gradual rollout by scenario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78"/>
                </a:solidFill>
              </a:rPr>
              <a:t>Next Steps &amp; Approval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3941"/>
                </a:solidFill>
              </a:rPr>
              <a:t>Immediate Actions Required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65760" cy="36576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459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3941"/>
                </a:solidFill>
              </a:rPr>
              <a:t>Approve Microservice Development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Timeline: This Week  |  Owner: Leadership Team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365760" cy="36576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240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3941"/>
                </a:solidFill>
              </a:rPr>
              <a:t>Allocate Budget &amp; Resources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Timeline: Week 1  |  Owner: Finance + HR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365760" cy="36576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834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3941"/>
                </a:solidFill>
              </a:rPr>
              <a:t>Finalize Technical Design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Timeline: Week 1-2  |  Owner: Technical Architect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429000"/>
            <a:ext cx="365760" cy="36576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429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3941"/>
                </a:solidFill>
              </a:rPr>
              <a:t>Kick-off Development Sprint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Timeline: Week 3  |  Owner: Development Team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023360"/>
            <a:ext cx="365760" cy="36576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023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3941"/>
                </a:solidFill>
              </a:rPr>
              <a:t>Engage Partner for API Integration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Timeline: Week 2-3  |  Owner: Product Owner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Decision Required: Approve to Proceed with Development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Questions &amp; Discussion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2743200" y="2560320"/>
            <a:ext cx="3657600" cy="45720"/>
          </a:xfrm>
          <a:prstGeom prst="rect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F1F8"/>
                </a:solidFill>
              </a:rPr>
              <a:t>Contact: 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Kasif Reza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9BD5"/>
                </a:solidFill>
              </a:rPr>
              <a:t>Product Owner -   BNPL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kasifreza1431@gmail.com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+971 581812805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1036</Words>
  <Application>Microsoft Office PowerPoint</Application>
  <PresentationFormat>On-screen Show (16:9)</PresentationFormat>
  <Paragraphs>297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BNPL Refund &amp; Return Microservice Proposal</dc:title>
  <dc:subject>PptxGenJS Presentation</dc:subject>
  <dc:creator>Kasif Reza</dc:creator>
  <cp:lastModifiedBy>Kasif Reza</cp:lastModifiedBy>
  <cp:revision>5</cp:revision>
  <dcterms:created xsi:type="dcterms:W3CDTF">2026-03-01T07:38:55Z</dcterms:created>
  <dcterms:modified xsi:type="dcterms:W3CDTF">2026-03-01T08:17:31Z</dcterms:modified>
</cp:coreProperties>
</file>